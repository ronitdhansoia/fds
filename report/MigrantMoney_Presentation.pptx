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FUNDAMENTALS OF DATA SCIENCE  ·  BITS PILANI DUBAI  · 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224028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F2F2F2"/>
                </a:solidFill>
                <a:latin typeface="Helvetica Neue"/>
              </a:rPr>
              <a:t>MigrantMoney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A8A8A8"/>
                </a:solidFill>
                <a:latin typeface="Helvetica"/>
              </a:rPr>
              <a:t>A True Cost Index and stablecoin counterfactual for the global remittance market.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03504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1996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8A8A8"/>
                </a:solidFill>
                <a:latin typeface="Menlo"/>
              </a:rPr>
              <a:t>RONIT DHANSOIA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996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TERM PROJECT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01  · 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02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82880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F2F2F2"/>
                </a:solidFill>
                <a:latin typeface="Helvetica Neue"/>
              </a:rPr>
              <a:t>$5.22 billion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A8A8A8"/>
                </a:solidFill>
                <a:latin typeface="Helvetica"/>
              </a:rPr>
              <a:t>What if the world's most expensive remittance corridors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A8A8A8"/>
                </a:solidFill>
                <a:latin typeface="Helvetica"/>
              </a:rPr>
              <a:t>ran on stablecoin rails? An empirical answer, per corridor.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World Bank panel, 2016 2Q → 2025 1Q  ·  368 corridors  ·  391,797 observations.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02  · 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03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2F2F2"/>
                </a:solidFill>
                <a:latin typeface="Helvetica Neue"/>
              </a:rPr>
              <a:t>Three signals, never combined.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A8A8A8"/>
                </a:solidFill>
                <a:latin typeface="Helvetica"/>
              </a:rPr>
              <a:t>Public reports treat fee and FX margin as separate columns. Speed isn't priced at all. No published metric unifies the three; we engineer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8618"/>
                </a:solidFill>
                <a:latin typeface="Menlo"/>
              </a:rPr>
              <a:t>FEE 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4617720"/>
            <a:ext cx="3383280" cy="0"/>
          </a:xfrm>
          <a:prstGeom prst="line">
            <a:avLst/>
          </a:prstGeom>
          <a:ln w="508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4773168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A8A8A8"/>
                </a:solidFill>
                <a:latin typeface="Helvetica"/>
              </a:rPr>
              <a:t>What the receipt shows. Always advertised.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206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8618"/>
                </a:solidFill>
                <a:latin typeface="Menlo"/>
              </a:rPr>
              <a:t>FX MARGIN 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4617720"/>
            <a:ext cx="3383280" cy="0"/>
          </a:xfrm>
          <a:prstGeom prst="line">
            <a:avLst/>
          </a:prstGeom>
          <a:ln w="508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80560" y="4773168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A8A8A8"/>
                </a:solidFill>
                <a:latin typeface="Helvetica"/>
              </a:rPr>
              <a:t>Spread between the rate offered and the interbank mid. Rarely shown.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206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8618"/>
                </a:solidFill>
                <a:latin typeface="Menlo"/>
              </a:rPr>
              <a:t>SPEED PENALTY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3880" y="4617720"/>
            <a:ext cx="3383280" cy="0"/>
          </a:xfrm>
          <a:prstGeom prst="line">
            <a:avLst/>
          </a:prstGeom>
          <a:ln w="508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83880" y="4773168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A8A8A8"/>
                </a:solidFill>
                <a:latin typeface="Helvetica"/>
              </a:rPr>
              <a:t>Cost to the receiving household of waiting two or three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03  · 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04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2F2F2"/>
                </a:solidFill>
                <a:latin typeface="Helvetica Neue"/>
              </a:rPr>
              <a:t>Two outputs.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6B6B6B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2F2F2"/>
                </a:solidFill>
                <a:latin typeface="Helvetica Neue"/>
              </a:rPr>
              <a:t>True Cost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29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A8A8A8"/>
                </a:solidFill>
                <a:latin typeface="Helvetica"/>
              </a:rPr>
              <a:t>A unified per-corridor cost number that combines fee, FX margin, and a speed penalty.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6B6B6B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800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2F2F2"/>
                </a:solidFill>
                <a:latin typeface="Helvetica Neue"/>
              </a:rPr>
              <a:t>Stablecoin counterfactual.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440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A8A8A8"/>
                </a:solidFill>
                <a:latin typeface="Helvetica"/>
              </a:rPr>
              <a:t>Per-corridor savings if those flows ran on USDC / USDT rails. The first published estimate at this granularity.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04  · 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05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2F2F2"/>
                </a:solidFill>
                <a:latin typeface="Helvetica Neue"/>
              </a:rPr>
              <a:t>World Bank Remittance Prices Worldwide.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8A8A8"/>
                </a:solidFill>
                <a:latin typeface="Helvetica"/>
              </a:rPr>
              <a:t>Quarterly panel of corridor prices. 2016 2Q → 2025 1Q.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CORRIDORS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2F2F2"/>
                </a:solidFill>
                <a:latin typeface="Helvetica Neue"/>
              </a:rPr>
              <a:t>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country pair × send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PROVIDERS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2F2F2"/>
                </a:solidFill>
                <a:latin typeface="Helvetica Neue"/>
              </a:rPr>
              <a:t>694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00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MTOs, banks, fintechs, mobile 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QUARTERS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2F2F2"/>
                </a:solidFill>
                <a:latin typeface="Helvetica Neue"/>
              </a:rPr>
              <a:t>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92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2016 2Q through 2025 1Q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74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2F2F2"/>
                </a:solidFill>
                <a:latin typeface="Helvetica Neue"/>
              </a:rPr>
              <a:t>391,797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92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after schema sniff and clean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05  · 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06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2F2F2"/>
                </a:solidFill>
                <a:latin typeface="Helvetica Neue"/>
              </a:rPr>
              <a:t>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A8A8A8"/>
                </a:solidFill>
                <a:latin typeface="Helvetica"/>
              </a:rPr>
              <a:t>Eight stages from raw RPW xlsx to a static dashboard. Reproducible end-to-end.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154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Download RPW xlsx + KNOMAD bilateral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2160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7216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Schema sniff  ·  cc1 / cc2 melt  ·  feature derivation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8853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8853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TCI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28853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Corridor × period × amount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5546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5546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STABLECOIN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85546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Counterfactual cost model +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54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154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154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Two-way fixed effects  ·  clustered 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72160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AGGREGATE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7216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Diaspora burden + corridor rankings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8853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28853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28853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Round  ·  null-safe JSON for the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85546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85546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FIGURES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85546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Plotly  ·  300 DPI PNG for the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RUN  ·  uv run python scripts/run_all.py    ~ 90 s end-to-end on cached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06  · 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07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2F2F2"/>
                </a:solidFill>
                <a:latin typeface="Helvetica Neue"/>
              </a:rPr>
              <a:t>Data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A8A8A8"/>
                </a:solidFill>
                <a:latin typeface="Helvetica"/>
              </a:rPr>
              <a:t>Six transformations turn raw RPW xlsx into a clean panel ready for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SCHEMA SNIFF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632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Match column names against canonical CANDIDATE_COLUMNS  ·  RPW renames quarterly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661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MELT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6616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Per-amount columns (cc1 = USD 200, cc2 = USD 500)  →  long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0690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DERIVE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0690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fee_pct = total_cost_pct − fx_margin_pct  ·  clipped at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72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MAP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5720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RPW "speed actual" categorical  →  days_to_arrive scalar  →  speed penalty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74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07492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Drop rows missing any TCI input  ·  log dropped count for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577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F2F2"/>
                </a:solidFill>
                <a:latin typeface="Menlo"/>
              </a:rPr>
              <a:t>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5778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8A8"/>
                </a:solidFill>
                <a:latin typeface="Helvetica"/>
              </a:rPr>
              <a:t>Standardize firm_type to {Bank, MTO, MobileMoney, PostOffice, Fintech}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OUTPUT  ·  391,797 clean rows  ·  Parquet for downstream stages.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07  ·  METHODOLOGY  ·  TRUE COST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08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2F2F2"/>
                </a:solidFill>
                <a:latin typeface="Helvetica Neue"/>
              </a:rPr>
              <a:t>True Cost Index.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2F2F2"/>
                </a:solidFill>
                <a:latin typeface="Menlo"/>
              </a:rPr>
              <a:t>TCI  =  fee%  +  fxMargin%  +  κ · max(0, days−1)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708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A8A8A8"/>
                </a:solidFill>
                <a:latin typeface="Helvetica"/>
              </a:rPr>
              <a:t>κ = 0.10 % per day past same-day  ·  cost-of-capital proxy for the receiving household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A8A8A8"/>
                </a:solidFill>
                <a:latin typeface="Helvetica"/>
              </a:rPr>
              <a:t>days  ·  RPW "speed actual" mapped to (under 1h, same day) → 0,  next day → 1,  2d → 2,  3-5d →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218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A8A8A8"/>
                </a:solidFill>
                <a:latin typeface="Helvetica"/>
              </a:rPr>
              <a:t>Corridor-level TCI is the unweighted mean across providers; median reported as a robustness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08  ·  METHODOLOGY  ·  STABLECOIN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09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2F2F2"/>
                </a:solidFill>
                <a:latin typeface="Helvetica Neue"/>
              </a:rPr>
              <a:t>Stablecoin counterfactual.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  <a:latin typeface="Menlo"/>
              </a:rPr>
              <a:t>SC = onramp(s)  +  offramp(d)  +  (gas / A × 100)  +  fxSpread(d)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  <a:latin typeface="Menlo"/>
              </a:rPr>
              <a:t>savings = max(0,  TCI  −  SC)  ·  V(s,d)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DEFAULTS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079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8A8A8"/>
                </a:solidFill>
                <a:latin typeface="Helvetica"/>
              </a:rPr>
              <a:t>On-ramp  ·  1.0 % developed  /  1.5 % default  /  2.5 % low-banked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1947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8A8A8"/>
                </a:solidFill>
                <a:latin typeface="Helvetica"/>
              </a:rPr>
              <a:t>Off-ramp  ·  1.0 % top P2P  /  2.5 % default  /  4.0 % thin liquidity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309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8A8A8"/>
                </a:solidFill>
                <a:latin typeface="Helvetica"/>
              </a:rPr>
              <a:t>Gas $0.50 (L2 / Solana / Tron USDT)  ·  fxSpread 0.5 % deep / 1.5 %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42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Helvetica"/>
              </a:rPr>
              <a:t>Volume V(s,d) is the KNOMAD bilateral remittance estimate, 2021 (latest published).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09  ·  METHODOLOGY  · 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10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F2F2"/>
                </a:solidFill>
                <a:latin typeface="Helvetica Neue"/>
              </a:rPr>
              <a:t>Two-way fixed-effects panel.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  <a:latin typeface="Menlo"/>
              </a:rPr>
              <a:t>TCI_ipq  =  β₀  +  Σ β_k · 1{firmType = k}  +  α_corridor  +  γ_quarter  +  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8A8A8"/>
                </a:solidFill>
                <a:latin typeface="Helvetica"/>
              </a:rPr>
              <a:t>Entity FE  ·  corridor (368 levels)  ·  absorbs all corridor-invariant heterogeneity.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8A8A8"/>
                </a:solidFill>
                <a:latin typeface="Helvetica"/>
              </a:rPr>
              <a:t>Time FE  ·  quarter (36 levels)  ·  absorbs aggregate time trends.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8A8A8"/>
                </a:solidFill>
                <a:latin typeface="Helvetica"/>
              </a:rPr>
              <a:t>Reference category  ·  MTO (largest cell)  ·  cluster-robust SE at the corridor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8A8A8"/>
                </a:solidFill>
                <a:latin typeface="Helvetica"/>
              </a:rPr>
              <a:t>Implementation  ·  linearmodels.PanelOLS  ·  fit separately for the USD 200 and USD 500 buckets.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10  ·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11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143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2F2F2"/>
                </a:solidFill>
                <a:latin typeface="Helvetica Neue"/>
              </a:rPr>
              <a:t>From raw RPW to a static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7120" y="1801368"/>
            <a:ext cx="5597455" cy="4809744"/>
          </a:xfrm>
          <a:prstGeom prst="roundRect">
            <a:avLst>
              <a:gd name="adj" fmla="val 12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712" y="1965960"/>
            <a:ext cx="526827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11  ·  RESULTS  · 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12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143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2F2F2"/>
                </a:solidFill>
                <a:latin typeface="Helvetica Neue"/>
              </a:rPr>
              <a:t>Top 20 most expensive corridors.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8A8A8"/>
                </a:solidFill>
                <a:latin typeface="Helvetica"/>
              </a:rPr>
              <a:t>Sub-Saharan Africa and small-island Pacific dominate. Latin America is the cheapest.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3111" y="2075688"/>
            <a:ext cx="7205472" cy="4626864"/>
          </a:xfrm>
          <a:prstGeom prst="roundRect">
            <a:avLst>
              <a:gd name="adj" fmla="val 12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01_top20_corrid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703" y="2240280"/>
            <a:ext cx="687628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12  ·  RESULTS  · 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13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143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2F2F2"/>
                </a:solidFill>
                <a:latin typeface="Helvetica Neue"/>
              </a:rPr>
              <a:t>Banks charge ≈ 4.5 pp more than MTOs.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8A8A8"/>
                </a:solidFill>
                <a:latin typeface="Helvetica"/>
              </a:rPr>
              <a:t>After controlling for corridor and quarter. Mobile-money operators undercut MTOs by ≈ 1.5 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9255" y="2075688"/>
            <a:ext cx="9473184" cy="3758184"/>
          </a:xfrm>
          <a:prstGeom prst="roundRect">
            <a:avLst>
              <a:gd name="adj" fmla="val 12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03_operator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2240280"/>
            <a:ext cx="9144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13  ·  RESULTS  ·  STABLECOIN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14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143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2F2F2"/>
                </a:solidFill>
                <a:latin typeface="Helvetica Neue"/>
              </a:rPr>
              <a:t>Where stablecoin rails save the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8A8A8"/>
                </a:solidFill>
                <a:latin typeface="Helvetica"/>
              </a:rPr>
              <a:t>Each dot is a corridor. X-axis: corridor volume (log). Y-axis: percentage savings on USD 200.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8397" y="2075688"/>
            <a:ext cx="8714901" cy="4626864"/>
          </a:xfrm>
          <a:prstGeom prst="roundRect">
            <a:avLst>
              <a:gd name="adj" fmla="val 12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04_stablecoi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989" y="2240280"/>
            <a:ext cx="8385717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14  ·  RESULTS  ·  DIASPORA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15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143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2F2F2"/>
                </a:solidFill>
                <a:latin typeface="Helvetica Neue"/>
              </a:rPr>
              <a:t>Annual burden by sending country.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8A8A8"/>
                </a:solidFill>
                <a:latin typeface="Helvetica"/>
              </a:rPr>
              <a:t>How many dollars each diaspora pays per year on the corridors out of their host country.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9255" y="2075688"/>
            <a:ext cx="9473184" cy="3872484"/>
          </a:xfrm>
          <a:prstGeom prst="roundRect">
            <a:avLst>
              <a:gd name="adj" fmla="val 12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05_diaspora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2240280"/>
            <a:ext cx="91440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15  · 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16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F2F2"/>
                </a:solidFill>
                <a:latin typeface="Helvetica Neue"/>
              </a:rPr>
              <a:t>Does the headline survive scrutiny?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A8A8A8"/>
                </a:solidFill>
                <a:latin typeface="Helvetica"/>
              </a:rPr>
              <a:t>Four checks. Every assumption is exposed on the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Menlo"/>
              </a:rPr>
              <a:t>κ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472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Helvetica"/>
              </a:rPr>
              <a:t>Reviewer-supplied κ ∈ [0.05, 0.20]  ·  corridor ranking is largely invariant in the plausible range.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6791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Menlo"/>
              </a:rPr>
              <a:t>PROVIDER STRESS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Helvetica"/>
              </a:rPr>
              <a:t>Drop top + bottom 5 % of provider observations per corridor  ·  global savings move by &lt; 3 %.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811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8114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Menlo"/>
              </a:rPr>
              <a:t>AGGREGATION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737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Helvetica"/>
              </a:rPr>
              <a:t>Mean and median TCI reported alongside  ·  divergence &lt; 0.5 pp on 80 % of corridors.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943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29437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F2F2"/>
                </a:solidFill>
                <a:latin typeface="Menlo"/>
              </a:rPr>
              <a:t>ASSUMPTION FLEX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5869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Helvetica"/>
              </a:rPr>
              <a:t>Optimistic stablecoin defaults reach the $30 – 50 B / yr ballpark cited by BIS Bulletin 87.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16  · 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17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F2F2"/>
                </a:solidFill>
                <a:latin typeface="Helvetica Neue"/>
              </a:rPr>
              <a:t>What this can't tell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2F2"/>
                </a:solidFill>
                <a:latin typeface="Helvetica"/>
              </a:rPr>
              <a:t>Provider weighting is uniform.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614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Helvetica"/>
              </a:rPr>
              <a:t>RPW does not publish market shares. A bank counts as much as a fintech.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82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2F2"/>
                </a:solidFill>
                <a:latin typeface="Helvetica"/>
              </a:rPr>
              <a:t>κ is calibrated, not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Helvetica"/>
              </a:rPr>
              <a:t>Defensible at 0.10 % / day, but the slider on the dashboard exists for a reason.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9534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2F2"/>
                </a:solidFill>
                <a:latin typeface="Helvetica"/>
              </a:rPr>
              <a:t>Stablecoin off-ramp is a floor.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879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Helvetica"/>
              </a:rPr>
              <a:t>KYC delays, P2P trade risk, and de-risking are not in the cost number.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085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2F2"/>
                </a:solidFill>
                <a:latin typeface="Helvetica"/>
              </a:rPr>
              <a:t>BRM volumes are 2021.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011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Helvetica"/>
              </a:rPr>
              <a:t>Latest published. Headline USD figure is anchored to that year.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218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2F2F2"/>
                </a:solidFill>
                <a:latin typeface="Helvetica"/>
              </a:rPr>
              <a:t>No causal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1441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8A8A8"/>
                </a:solidFill>
                <a:latin typeface="Helvetica"/>
              </a:rPr>
              <a:t>Operator-class effect after FE; selection into firm type is endogenous.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Menlo"/>
              </a:rPr>
              <a:t>17  ·  DEMO  · 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02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Menlo"/>
              </a:rPr>
              <a:t>18 / 18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868680"/>
            <a:ext cx="10652760" cy="0"/>
          </a:xfrm>
          <a:prstGeom prst="line">
            <a:avLst/>
          </a:prstGeom>
          <a:ln w="7620">
            <a:solidFill>
              <a:srgbClr val="2424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554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F2F2F2"/>
                </a:solidFill>
                <a:latin typeface="Helvetica Neue"/>
              </a:rPr>
              <a:t>Live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E88618"/>
                </a:solidFill>
                <a:latin typeface="Menlo"/>
              </a:rPr>
              <a:t>migrantmoney.vercel.app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8A8A8"/>
                </a:solidFill>
                <a:latin typeface="Menlo"/>
              </a:rPr>
              <a:t>github.com/ronitdhansoia/fds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Menlo"/>
              </a:rPr>
              <a:t>Ronit Dhansoia  ·  f20220168@dubai.bits-pilani.ac.in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