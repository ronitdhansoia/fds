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FUNDAMENTALS OF DATA SCIENCE  ·  BITS PILANI DUBAI  ·  2026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224028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 i="0">
                <a:solidFill>
                  <a:srgbClr val="F2F2F2"/>
                </a:solidFill>
                <a:latin typeface="Helvetica Neue"/>
              </a:rPr>
              <a:t>MigrantMoney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605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A8A8A8"/>
                </a:solidFill>
                <a:latin typeface="Helvetica"/>
              </a:rPr>
              <a:t>The hidden tax on global remittances.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03504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199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8A8A8"/>
                </a:solidFill>
                <a:latin typeface="Menlo"/>
              </a:rPr>
              <a:t>RONIT DHANSOIA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1996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TERM PROJECT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01  ·  THE 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02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828800"/>
            <a:ext cx="10972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0" b="1" i="0">
                <a:solidFill>
                  <a:srgbClr val="F2F2F2"/>
                </a:solidFill>
                <a:latin typeface="Helvetica Neue"/>
              </a:rPr>
              <a:t>$5.22 billion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A8A8A8"/>
                </a:solidFill>
                <a:latin typeface="Helvetica"/>
              </a:rPr>
              <a:t>is what migrants would keep, every year,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A8A8A8"/>
                </a:solidFill>
                <a:latin typeface="Helvetica"/>
              </a:rPr>
              <a:t>if remittances ran on stablecoin rails.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Menlo"/>
              </a:rPr>
              <a:t>Conservative estimate. 200 of 349 corridors. World Bank panel, 2025 Q1.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02  ·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03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4630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2F2F2"/>
                </a:solidFill>
                <a:latin typeface="Helvetica Neue"/>
              </a:rPr>
              <a:t>The advertised fee is half the story.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A8A8A8"/>
                </a:solidFill>
                <a:latin typeface="Helvetica"/>
              </a:rPr>
              <a:t>Public reports treat fee and FX margin as separate columns. Speed isn't priced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77639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88618"/>
                </a:solidFill>
                <a:latin typeface="Menlo"/>
              </a:rPr>
              <a:t>FEE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4389119"/>
            <a:ext cx="3383280" cy="0"/>
          </a:xfrm>
          <a:prstGeom prst="line">
            <a:avLst/>
          </a:prstGeom>
          <a:ln w="508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4544567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A8A8A8"/>
                </a:solidFill>
                <a:latin typeface="Helvetica"/>
              </a:rPr>
              <a:t>What the receipt shows. Always advertised.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977639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88618"/>
                </a:solidFill>
                <a:latin typeface="Menlo"/>
              </a:rPr>
              <a:t>FX MARGIN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4389119"/>
            <a:ext cx="3383280" cy="0"/>
          </a:xfrm>
          <a:prstGeom prst="line">
            <a:avLst/>
          </a:prstGeom>
          <a:ln w="508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80560" y="4544567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A8A8A8"/>
                </a:solidFill>
                <a:latin typeface="Helvetica"/>
              </a:rPr>
              <a:t>Spread between the rate offered and the interbank mid. Rarely shown.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3977639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88618"/>
                </a:solidFill>
                <a:latin typeface="Menlo"/>
              </a:rPr>
              <a:t>SPEED PENALTY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183880" y="4389119"/>
            <a:ext cx="3383280" cy="0"/>
          </a:xfrm>
          <a:prstGeom prst="line">
            <a:avLst/>
          </a:prstGeom>
          <a:ln w="508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183880" y="4544567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A8A8A8"/>
                </a:solidFill>
                <a:latin typeface="Helvetica"/>
              </a:rPr>
              <a:t>Cost to the receiving household of waiting two or three days.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03  · 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04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4630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F2F2F2"/>
                </a:solidFill>
                <a:latin typeface="Helvetica Neue"/>
              </a:rPr>
              <a:t>Two outputs.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346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6B6B6B"/>
                </a:solidFill>
                <a:latin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889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2F2"/>
                </a:solidFill>
                <a:latin typeface="Helvetica Neue"/>
              </a:rPr>
              <a:t>True Cost Index.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A8A8A8"/>
                </a:solidFill>
                <a:latin typeface="Helvetica"/>
              </a:rPr>
              <a:t>A unified per-corridor cost number that combines fee, FX margin, and a speed penalty.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6B6B6B"/>
                </a:solidFill>
                <a:latin typeface="Menl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8006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2F2"/>
                </a:solidFill>
                <a:latin typeface="Helvetica Neue"/>
              </a:rPr>
              <a:t>Stablecoin counterfactual.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4406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A8A8A8"/>
                </a:solidFill>
                <a:latin typeface="Helvetica"/>
              </a:rPr>
              <a:t>Per-corridor savings if those flows ran on USDC / USDT rails. The first published estimate at this granularity.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04  · 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05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4630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2F2F2"/>
                </a:solidFill>
                <a:latin typeface="Helvetica Neue"/>
              </a:rPr>
              <a:t>World Bank Remittance Prices Worldwide.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8A8A8"/>
                </a:solidFill>
                <a:latin typeface="Helvetica"/>
              </a:rPr>
              <a:t>Quarterly panel of corridor prices. 2016 2Q → 2025 1Q.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CORRIDORS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F2F2F2"/>
                </a:solidFill>
                <a:latin typeface="Helvetica Neue"/>
              </a:rPr>
              <a:t>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06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A8A8"/>
                </a:solidFill>
                <a:latin typeface="Helvetica"/>
              </a:rPr>
              <a:t>country pair × send amount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832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PROVIDERS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7947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F2F2F2"/>
                </a:solidFill>
                <a:latin typeface="Helvetica Neue"/>
              </a:rPr>
              <a:t>694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8006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A8A8"/>
                </a:solidFill>
                <a:latin typeface="Helvetica"/>
              </a:rPr>
              <a:t>MTOs, banks, fintechs, mobile money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74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QUARTERS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8640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F2F2F2"/>
                </a:solidFill>
                <a:latin typeface="Helvetica Neue"/>
              </a:rPr>
              <a:t>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922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A8A8"/>
                </a:solidFill>
                <a:latin typeface="Helvetica"/>
              </a:rPr>
              <a:t>2016 2Q through 2025 1Q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074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48640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F2F2F2"/>
                </a:solidFill>
                <a:latin typeface="Helvetica Neue"/>
              </a:rPr>
              <a:t>391,797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A8A8"/>
                </a:solidFill>
                <a:latin typeface="Helvetica"/>
              </a:rPr>
              <a:t>after schema sniff and clean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05  ·  METHODOLOGY  ·  TRUE COST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06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4630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2F2F2"/>
                </a:solidFill>
                <a:latin typeface="Helvetica Neue"/>
              </a:rPr>
              <a:t>True Cost Index.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2F2F2"/>
                </a:solidFill>
                <a:latin typeface="Menlo"/>
              </a:rPr>
              <a:t>TCI  =  fee%  +  fxMargin%  +  κ · max(0, days−1)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23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WHERE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7083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A8A8A8"/>
                </a:solidFill>
                <a:latin typeface="Helvetica"/>
              </a:rPr>
              <a:t>κ = 0.10 % per day past same-day  ·  cost-of-capital proxy for the receiving household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A8A8A8"/>
                </a:solidFill>
                <a:latin typeface="Helvetica"/>
              </a:rPr>
              <a:t>days  ·  RPW "speed actual" mapped to (under 1h, same day) → 0,  next day → 1,  2d → 2,  3-5d →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2180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A8A8A8"/>
                </a:solidFill>
                <a:latin typeface="Helvetica"/>
              </a:rPr>
              <a:t>Corridor-level TCI is the unweighted mean across providers; median reported as a robustness check.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06  ·  METHODOLOGY  ·  STABLECOIN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07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4630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2F2F2"/>
                </a:solidFill>
                <a:latin typeface="Helvetica Neue"/>
              </a:rPr>
              <a:t>Stablecoin counterfactual.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2F2F2"/>
                </a:solidFill>
                <a:latin typeface="Menlo"/>
              </a:rPr>
              <a:t>SC = onramp(s)  +  offramp(d)  +  (gas / A × 100)  +  fxSpread(d)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2F2F2"/>
                </a:solidFill>
                <a:latin typeface="Menlo"/>
              </a:rPr>
              <a:t>savings = max(0,  TCI  −  SC)  ·  V(s,d)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DEFAULTS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0799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A8A8"/>
                </a:solidFill>
                <a:latin typeface="Helvetica"/>
              </a:rPr>
              <a:t>On-ramp  ·  1.0 % developed  /  1.5 % default  /  2.5 % low-banked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1947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A8A8"/>
                </a:solidFill>
                <a:latin typeface="Helvetica"/>
              </a:rPr>
              <a:t>Off-ramp  ·  1.0 % top P2P  /  2.5 % default  /  4.0 % thin liquidity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33095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A8A8"/>
                </a:solidFill>
                <a:latin typeface="Helvetica"/>
              </a:rPr>
              <a:t>Gas $0.50 (L2 / Solana / Tron USDT)  ·  fxSpread 0.5 % deep / 1.5 %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4243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6B6B"/>
                </a:solidFill>
                <a:latin typeface="Helvetica"/>
              </a:rPr>
              <a:t>Volume V(s,d) is the KNOMAD bilateral remittance estimate, 2021 (latest published).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07  ·  METHODOLOGY  · 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08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4630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2F2F2"/>
                </a:solidFill>
                <a:latin typeface="Helvetica Neue"/>
              </a:rPr>
              <a:t>Operator-class regression.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2F2F2"/>
                </a:solidFill>
                <a:latin typeface="Menlo"/>
              </a:rPr>
              <a:t>TCI_ipq  =  β₀  +  Σ β_k · 1{firmType = k}  +  α_corridor  +  γ_quarter  +  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8A8A8"/>
                </a:solidFill>
                <a:latin typeface="Helvetica"/>
              </a:rPr>
              <a:t>Two-way fixed effects  ·  corridor and quarter absorbed.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8A8A8"/>
                </a:solidFill>
                <a:latin typeface="Helvetica"/>
              </a:rPr>
              <a:t>Reference category  ·  MTO (largest cell).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29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8A8A8"/>
                </a:solidFill>
                <a:latin typeface="Helvetica"/>
              </a:rPr>
              <a:t>Standard errors  ·  cluster-robust at the corridor level.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623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8A8A8"/>
                </a:solidFill>
                <a:latin typeface="Helvetica"/>
              </a:rPr>
              <a:t>Implementation  ·  linearmodels.PanelOLS, run separately for the USD 200 and USD 500 buckets.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08  ·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09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1430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2F2F2"/>
                </a:solidFill>
                <a:latin typeface="Helvetica Neue"/>
              </a:rPr>
              <a:t>From raw RPW to a static 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7120" y="1801368"/>
            <a:ext cx="5597455" cy="4809744"/>
          </a:xfrm>
          <a:prstGeom prst="roundRect">
            <a:avLst>
              <a:gd name="adj" fmla="val 1200"/>
            </a:avLst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712" y="1965960"/>
            <a:ext cx="5268271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09  ·  RESULTS  ·  TOP CORRIDORS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10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1430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2F2F2"/>
                </a:solidFill>
                <a:latin typeface="Helvetica Neue"/>
              </a:rPr>
              <a:t>Top 20 most expensive corridors.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A8A8"/>
                </a:solidFill>
                <a:latin typeface="Helvetica"/>
              </a:rPr>
              <a:t>Sub-Saharan Africa and small-island Pacific dominate. Latin America is the cheapest.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111" y="2075688"/>
            <a:ext cx="7205472" cy="4626864"/>
          </a:xfrm>
          <a:prstGeom prst="roundRect">
            <a:avLst>
              <a:gd name="adj" fmla="val 1200"/>
            </a:avLst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01_top20_corrid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703" y="2240280"/>
            <a:ext cx="6876288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10  ·  RESULTS  ·  GEOGRAPHY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11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1430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2F2F2"/>
                </a:solidFill>
                <a:latin typeface="Helvetica Neue"/>
              </a:rPr>
              <a:t>Where the burden falls.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A8A8"/>
                </a:solidFill>
                <a:latin typeface="Helvetica"/>
              </a:rPr>
              <a:t>Sending-country annual fee burden, in US dollars.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1095" y="2075688"/>
            <a:ext cx="7969504" cy="4626864"/>
          </a:xfrm>
          <a:prstGeom prst="roundRect">
            <a:avLst>
              <a:gd name="adj" fmla="val 1200"/>
            </a:avLst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02_worl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687" y="2240280"/>
            <a:ext cx="764032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11  ·  RESULTS  ·  WHO CHARGES MOST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12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1430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2F2F2"/>
                </a:solidFill>
                <a:latin typeface="Helvetica Neue"/>
              </a:rPr>
              <a:t>Banks charge ≈ 4.5 pp more than MTOs.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A8A8"/>
                </a:solidFill>
                <a:latin typeface="Helvetica"/>
              </a:rPr>
              <a:t>After controlling for corridor and quarter. Mobile-money operators undercut MTOs by ≈ 1.5 pp.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59255" y="2075688"/>
            <a:ext cx="9473184" cy="3758184"/>
          </a:xfrm>
          <a:prstGeom prst="roundRect">
            <a:avLst>
              <a:gd name="adj" fmla="val 1200"/>
            </a:avLst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03_operator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2240280"/>
            <a:ext cx="9144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12  ·  RESULTS  ·  STABLECOIN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13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1430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2F2F2"/>
                </a:solidFill>
                <a:latin typeface="Helvetica Neue"/>
              </a:rPr>
              <a:t>Where stablecoin rails save the most.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A8A8"/>
                </a:solidFill>
                <a:latin typeface="Helvetica"/>
              </a:rPr>
              <a:t>Each dot is a corridor. X-axis: corridor volume (log). Y-axis: percentage savings on USD 200.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38397" y="2075688"/>
            <a:ext cx="8714901" cy="4626864"/>
          </a:xfrm>
          <a:prstGeom prst="roundRect">
            <a:avLst>
              <a:gd name="adj" fmla="val 1200"/>
            </a:avLst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04_stablecoi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989" y="2240280"/>
            <a:ext cx="8385717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13  ·  RESULTS  ·  DIASPORA BURDEN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14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1430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2F2F2"/>
                </a:solidFill>
                <a:latin typeface="Helvetica Neue"/>
              </a:rPr>
              <a:t>Annual burden by sending country.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A8A8"/>
                </a:solidFill>
                <a:latin typeface="Helvetica"/>
              </a:rPr>
              <a:t>How many dollars each diaspora pays per year on the corridors out of their host country.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59255" y="2075688"/>
            <a:ext cx="9473184" cy="3872484"/>
          </a:xfrm>
          <a:prstGeom prst="roundRect">
            <a:avLst>
              <a:gd name="adj" fmla="val 1200"/>
            </a:avLst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05_diaspora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2240280"/>
            <a:ext cx="914400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14  ·  HEADLINE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15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2015" y="201168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VOLUME IN SCOPE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2015" y="2395728"/>
            <a:ext cx="3566160" cy="0"/>
          </a:xfrm>
          <a:prstGeom prst="line">
            <a:avLst/>
          </a:prstGeom>
          <a:ln w="635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2015" y="2697480"/>
            <a:ext cx="3566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F2F2F2"/>
                </a:solidFill>
                <a:latin typeface="Helvetica Neue"/>
              </a:rPr>
              <a:t>$484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015" y="493776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A8A8"/>
                </a:solidFill>
                <a:latin typeface="Helvetica"/>
              </a:rPr>
              <a:t>KNOMAD bilateral matrix, 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2767" y="201168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RECOVERABLE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2767" y="2395728"/>
            <a:ext cx="3566160" cy="0"/>
          </a:xfrm>
          <a:prstGeom prst="line">
            <a:avLst/>
          </a:prstGeom>
          <a:ln w="635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12767" y="2697480"/>
            <a:ext cx="3566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F2F2F2"/>
                </a:solidFill>
                <a:latin typeface="Helvetica Neue"/>
              </a:rPr>
              <a:t>$5.22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2767" y="493776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A8A8"/>
                </a:solidFill>
                <a:latin typeface="Helvetica"/>
              </a:rPr>
              <a:t>per year on stablecoin rails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3519" y="201168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CORRIDORS BEAT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43519" y="2395728"/>
            <a:ext cx="3566160" cy="0"/>
          </a:xfrm>
          <a:prstGeom prst="line">
            <a:avLst/>
          </a:prstGeom>
          <a:ln w="635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43519" y="2697480"/>
            <a:ext cx="3566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F2F2F2"/>
                </a:solidFill>
                <a:latin typeface="Helvetica Neue"/>
              </a:rPr>
              <a:t>57 %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3519" y="493776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A8A8"/>
                </a:solidFill>
                <a:latin typeface="Helvetica"/>
              </a:rPr>
              <a:t>stablecoin wins on 200 of 349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Menlo"/>
              </a:rPr>
              <a:t>USD 200 send amount  ·  panel through 2025 1Q  ·  conservative stablecoin defaults.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15  · 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16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3716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2F2F2"/>
                </a:solidFill>
                <a:latin typeface="Helvetica Neue"/>
              </a:rPr>
              <a:t>What this can't tell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2F2F2"/>
                </a:solidFill>
                <a:latin typeface="Helvetica"/>
              </a:rPr>
              <a:t>Provider weighting is uniform.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8A8A8"/>
                </a:solidFill>
                <a:latin typeface="Helvetica"/>
              </a:rPr>
              <a:t>RPW does not publish market shares. A bank counts as much as a fintech.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821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2F2F2"/>
                </a:solidFill>
                <a:latin typeface="Helvetica"/>
              </a:rPr>
              <a:t>κ is calibrated, not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74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8A8A8"/>
                </a:solidFill>
                <a:latin typeface="Helvetica"/>
              </a:rPr>
              <a:t>Defensible at 0.10 % / day, but the slider on the dashboard exists for a reason.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9534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2F2F2"/>
                </a:solidFill>
                <a:latin typeface="Helvetica"/>
              </a:rPr>
              <a:t>Stablecoin off-ramp is a floor.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879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8A8A8"/>
                </a:solidFill>
                <a:latin typeface="Helvetica"/>
              </a:rPr>
              <a:t>KYC delays, P2P trade risk, and de-risking are not in the cost number.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085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2F2F2"/>
                </a:solidFill>
                <a:latin typeface="Helvetica"/>
              </a:rPr>
              <a:t>BRM volumes are 2021.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0118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8A8A8"/>
                </a:solidFill>
                <a:latin typeface="Helvetica"/>
              </a:rPr>
              <a:t>Latest published. Headline USD figure is anchored to that year.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180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2F2F2"/>
                </a:solidFill>
                <a:latin typeface="Helvetica"/>
              </a:rPr>
              <a:t>No causal claim.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1441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8A8A8"/>
                </a:solidFill>
                <a:latin typeface="Helvetica"/>
              </a:rPr>
              <a:t>Operator-class effect after FE; selection into firm type is endogenous.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Menlo"/>
              </a:rPr>
              <a:t>16  ·  DEMO  · 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029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enlo"/>
              </a:rPr>
              <a:t>17 / 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868680"/>
            <a:ext cx="10652760" cy="0"/>
          </a:xfrm>
          <a:prstGeom prst="line">
            <a:avLst/>
          </a:prstGeom>
          <a:ln w="7620">
            <a:solidFill>
              <a:srgbClr val="2424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5544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0" b="1" i="0">
                <a:solidFill>
                  <a:srgbClr val="F2F2F2"/>
                </a:solidFill>
                <a:latin typeface="Helvetica Neue"/>
              </a:rPr>
              <a:t>Live demo.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E88618"/>
                </a:solidFill>
                <a:latin typeface="Menlo"/>
              </a:rPr>
              <a:t>migrantmoney.vercel.app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8A8A8"/>
                </a:solidFill>
                <a:latin typeface="Menlo"/>
              </a:rPr>
              <a:t>github.com/ronitdhansoia/fds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Menlo"/>
              </a:rPr>
              <a:t>Ronit Dhansoia  ·  f20220168@dubai.bits-pilani.ac.in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